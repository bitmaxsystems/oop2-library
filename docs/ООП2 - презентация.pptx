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C8E832A1-AE20-595C-6C6A-C6CAD6D722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59" t="1529" r="16895" b="27442"/>
          <a:stretch>
            <a:fillRect/>
          </a:stretch>
        </p:blipFill>
        <p:spPr>
          <a:xfrm flipH="1">
            <a:off x="-27432" y="0"/>
            <a:ext cx="12219432" cy="68657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259" y="1820486"/>
            <a:ext cx="4800600" cy="276218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8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60" y="4714821"/>
            <a:ext cx="3830874" cy="149661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5259" y="219456"/>
            <a:ext cx="2703777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35440" y="219456"/>
            <a:ext cx="149536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5435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17452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89952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circle in a purple and orange color&#10;&#10;AI-generated content may be incorrect.">
            <a:extLst>
              <a:ext uri="{FF2B5EF4-FFF2-40B4-BE49-F238E27FC236}">
                <a16:creationId xmlns:a16="http://schemas.microsoft.com/office/drawing/2014/main" id="{6AC85073-6D22-76C5-C752-C565E9FBC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6" t="10520" r="14652" b="11508"/>
          <a:stretch>
            <a:fillRect/>
          </a:stretch>
        </p:blipFill>
        <p:spPr>
          <a:xfrm flipH="1">
            <a:off x="-2" y="11899"/>
            <a:ext cx="12192001" cy="686571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BF6CFC71-0CC0-F6AB-06FD-5F2DE25870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459253"/>
            <a:ext cx="5658468" cy="2691359"/>
          </a:xfrm>
        </p:spPr>
        <p:txBody>
          <a:bodyPr/>
          <a:lstStyle>
            <a:lvl1pPr>
              <a:defRPr sz="4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41932924-E87B-08A2-5EE3-BBA69699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62264" y="516600"/>
            <a:ext cx="2593814" cy="1627886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62265" y="219456"/>
            <a:ext cx="250404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63200" y="219456"/>
            <a:ext cx="1146383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4929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8895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tIns="36576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7EB34FF5-770C-AA64-B806-5D6DED711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63843"/>
            <a:ext cx="12188952" cy="2394157"/>
          </a:xfrm>
          <a:gradFill>
            <a:gsLst>
              <a:gs pos="31000">
                <a:srgbClr val="000000">
                  <a:alpha val="30000"/>
                </a:srgbClr>
              </a:gs>
              <a:gs pos="87000">
                <a:srgbClr val="000000">
                  <a:alpha val="60000"/>
                </a:srgbClr>
              </a:gs>
              <a:gs pos="0">
                <a:srgbClr val="000000">
                  <a:alpha val="0"/>
                </a:srgbClr>
              </a:gs>
            </a:gsLst>
            <a:lin ang="5400000" scaled="0"/>
          </a:gradFill>
        </p:spPr>
        <p:txBody>
          <a:bodyPr lIns="502920" tIns="0" rIns="5029200" bIns="365760" anchor="b"/>
          <a:lstStyle>
            <a:lvl1pPr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9132BB0-A42B-7355-8046-F22B2344C6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801099" y="4463843"/>
            <a:ext cx="3387853" cy="2394157"/>
          </a:xfrm>
        </p:spPr>
        <p:txBody>
          <a:bodyPr vert="horz" lIns="137160" tIns="365760" rIns="0" bIns="457200" rtlCol="0" anchor="b">
            <a:normAutofit/>
          </a:bodyPr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37656" y="219456"/>
            <a:ext cx="2740616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8866095" y="219456"/>
            <a:ext cx="1957990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362195" y="219456"/>
            <a:ext cx="448805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08086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6F838A51-B977-1664-089F-3B2250DFEF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8117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980" y="4311805"/>
            <a:ext cx="8585337" cy="2368300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65617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9456"/>
            <a:ext cx="19132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8" y="219456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8539814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D09BF41B-6D10-9A6E-03E4-5E7320A61D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2"/>
            <a:ext cx="12192000" cy="28690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68" y="2138776"/>
            <a:ext cx="6433266" cy="1962149"/>
          </a:xfrm>
        </p:spPr>
        <p:txBody>
          <a:bodyPr anchor="t">
            <a:normAutofit/>
          </a:bodyPr>
          <a:lstStyle>
            <a:lvl1pPr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353300" y="214858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1" y="2138776"/>
            <a:ext cx="3718420" cy="4109624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783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ack background with a red and yellow light&#10;&#10;AI-generated content may be incorrect.">
            <a:extLst>
              <a:ext uri="{FF2B5EF4-FFF2-40B4-BE49-F238E27FC236}">
                <a16:creationId xmlns:a16="http://schemas.microsoft.com/office/drawing/2014/main" id="{BD349A90-08FB-AFC0-8649-56404DF7B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109"/>
          <a:stretch>
            <a:fillRect/>
          </a:stretch>
        </p:blipFill>
        <p:spPr>
          <a:xfrm rot="10800000" flipH="1">
            <a:off x="-9982" y="2555751"/>
            <a:ext cx="12192000" cy="43439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0852" y="3481713"/>
            <a:ext cx="5496426" cy="2092272"/>
          </a:xfrm>
        </p:spPr>
        <p:txBody>
          <a:bodyPr anchor="t">
            <a:normAutofit/>
          </a:bodyPr>
          <a:lstStyle>
            <a:lvl1pPr>
              <a:defRPr sz="7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3EA2DD-B019-E3AA-ACB7-13CC3353E8D4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2555751"/>
          </a:xfrm>
          <a:blipFill>
            <a:blip r:embed="rId3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3660" y="2734068"/>
            <a:ext cx="272733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85567" y="2734068"/>
            <a:ext cx="158671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6614" y="2734068"/>
            <a:ext cx="52669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785567" y="3481713"/>
            <a:ext cx="3916103" cy="2765887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1pPr>
            <a:lvl2pPr marL="5715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2pPr>
            <a:lvl3pPr marL="800100" indent="-342900"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3pPr>
            <a:lvl4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4pPr>
            <a:lvl5pPr>
              <a:lnSpc>
                <a:spcPct val="130000"/>
              </a:lnSpc>
              <a:buFont typeface="+mj-lt"/>
              <a:buAutoNum type="arabicPeriod"/>
              <a:defRPr lang="en-US" sz="1400" dirty="0">
                <a:solidFill>
                  <a:schemeClr val="tx1"/>
                </a:solidFill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  <a:p>
            <a:pPr marL="228600" lvl="1" indent="-228600"/>
            <a:r>
              <a:rPr lang="en-US"/>
              <a:t>Second level</a:t>
            </a:r>
          </a:p>
          <a:p>
            <a:pPr marL="228600" lvl="2" indent="-228600"/>
            <a:r>
              <a:rPr lang="en-US"/>
              <a:t>Third level</a:t>
            </a:r>
          </a:p>
          <a:p>
            <a:pPr marL="228600" lvl="3" indent="-228600"/>
            <a:r>
              <a:rPr lang="en-US"/>
              <a:t>Fourth level</a:t>
            </a:r>
          </a:p>
          <a:p>
            <a:pPr marL="228600" lvl="4" indent="-228600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63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purple and black background&#10;&#10;AI-generated content may be incorrect.">
            <a:extLst>
              <a:ext uri="{FF2B5EF4-FFF2-40B4-BE49-F238E27FC236}">
                <a16:creationId xmlns:a16="http://schemas.microsoft.com/office/drawing/2014/main" id="{518E8C82-2B1B-76C7-A67D-099AEEEAD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09"/>
          <a:stretch>
            <a:fillRect/>
          </a:stretch>
        </p:blipFill>
        <p:spPr>
          <a:xfrm>
            <a:off x="6324601" y="1"/>
            <a:ext cx="588125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1" y="1276990"/>
            <a:ext cx="5378267" cy="985658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418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0295" y="21485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7" y="2471736"/>
            <a:ext cx="5378268" cy="366273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7048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rgbClr val="09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a purple and orange light&#10;&#10;AI-generated content may be incorrect.">
            <a:extLst>
              <a:ext uri="{FF2B5EF4-FFF2-40B4-BE49-F238E27FC236}">
                <a16:creationId xmlns:a16="http://schemas.microsoft.com/office/drawing/2014/main" id="{E41EB56E-DF88-E5AB-35AF-891395DCD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4406900"/>
            <a:ext cx="9144000" cy="2451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899" y="1886712"/>
            <a:ext cx="3507989" cy="3233928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08394"/>
            <a:ext cx="253211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67400" y="208394"/>
            <a:ext cx="20175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588" y="208394"/>
            <a:ext cx="55315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67401" y="1886712"/>
            <a:ext cx="4495800" cy="3233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>
                <a:solidFill>
                  <a:schemeClr val="tx1"/>
                </a:solidFill>
              </a:defRPr>
            </a:lvl1pPr>
            <a:lvl2pPr>
              <a:defRPr lang="en-US">
                <a:solidFill>
                  <a:schemeClr val="tx1"/>
                </a:solidFill>
              </a:defRPr>
            </a:lvl2pPr>
            <a:lvl3pPr>
              <a:defRPr lang="en-US">
                <a:solidFill>
                  <a:schemeClr val="tx1"/>
                </a:solidFill>
              </a:defRPr>
            </a:lvl3pPr>
            <a:lvl4pPr>
              <a:defRPr lang="en-US">
                <a:solidFill>
                  <a:schemeClr val="tx1"/>
                </a:solidFill>
              </a:defRPr>
            </a:lvl4pPr>
            <a:lvl5pPr>
              <a:defRPr lang="en-US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845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436" y="1115568"/>
            <a:ext cx="2505264" cy="162412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684048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74064" y="215823"/>
            <a:ext cx="14859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8242" y="215823"/>
            <a:ext cx="549272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8436" y="3028523"/>
            <a:ext cx="2505264" cy="341037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B2531DA-E07E-34C2-010B-27DB8B00492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74064" y="1181100"/>
            <a:ext cx="8817936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21406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4000500" cy="1352516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9100" y="219456"/>
            <a:ext cx="2727930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7899" y="219456"/>
            <a:ext cx="1747774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3948" y="216280"/>
            <a:ext cx="551113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7899" y="1104900"/>
            <a:ext cx="6925002" cy="1352516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None/>
              <a:defRPr sz="1400"/>
            </a:lvl1pPr>
            <a:lvl2pPr marL="514350" indent="-285750">
              <a:buFont typeface="Arial" panose="020B0604020202020204" pitchFamily="34" charset="0"/>
              <a:buNone/>
              <a:defRPr sz="14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400"/>
            </a:lvl4pPr>
            <a:lvl5pPr marL="1085850" indent="-17145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46877B-7C99-D26C-DFEC-72A4289A8FA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938509"/>
            <a:ext cx="12192000" cy="3919491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2667522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291891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5146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bg-BG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EB6A322-B3CC-9AE7-DB63-8B433811BD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423747" y="0"/>
            <a:ext cx="8768253" cy="3985719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800" y="4077628"/>
            <a:ext cx="1920240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4077628"/>
            <a:ext cx="55594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4423576"/>
            <a:ext cx="8420100" cy="1824824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3940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1339" y="1115568"/>
            <a:ext cx="5247577" cy="99413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9456"/>
            <a:ext cx="2933700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896579" y="209088"/>
            <a:ext cx="184404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34185" y="209088"/>
            <a:ext cx="555948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3BFBE8F-8803-50FD-04BC-3A247F9767C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181100"/>
            <a:ext cx="5247577" cy="567690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881339" y="2133600"/>
            <a:ext cx="5247577" cy="41148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8852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57" y="1115568"/>
            <a:ext cx="3607670" cy="3170545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768" y="214858"/>
            <a:ext cx="2597106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45909" y="214858"/>
            <a:ext cx="1586711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7610" y="214858"/>
            <a:ext cx="555948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5909" y="1112672"/>
            <a:ext cx="6926991" cy="196780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21707E4-5122-AA3B-7CFC-6AF9C0BAC46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03079" y="3500203"/>
            <a:ext cx="7288921" cy="3357797"/>
          </a:xfrm>
          <a:custGeom>
            <a:avLst/>
            <a:gdLst>
              <a:gd name="connsiteX0" fmla="*/ 0 w 7391400"/>
              <a:gd name="connsiteY0" fmla="*/ 0 h 3018269"/>
              <a:gd name="connsiteX1" fmla="*/ 7391400 w 7391400"/>
              <a:gd name="connsiteY1" fmla="*/ 0 h 3018269"/>
              <a:gd name="connsiteX2" fmla="*/ 7391400 w 7391400"/>
              <a:gd name="connsiteY2" fmla="*/ 3018269 h 3018269"/>
              <a:gd name="connsiteX3" fmla="*/ 0 w 7391400"/>
              <a:gd name="connsiteY3" fmla="*/ 3018269 h 3018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1400" h="3018269">
                <a:moveTo>
                  <a:pt x="0" y="0"/>
                </a:moveTo>
                <a:lnTo>
                  <a:pt x="7391400" y="0"/>
                </a:lnTo>
                <a:lnTo>
                  <a:pt x="7391400" y="3018269"/>
                </a:lnTo>
                <a:lnTo>
                  <a:pt x="0" y="3018269"/>
                </a:lnTo>
                <a:close/>
              </a:path>
            </a:pathLst>
          </a:custGeom>
          <a:blipFill dpi="0" rotWithShape="1">
            <a:blip r:embed="rId2" cstate="email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439843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3429001"/>
            <a:ext cx="2501307" cy="2551982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02C8AD-A927-B946-5850-6500487D68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2192000" cy="270509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865290"/>
            <a:ext cx="2726376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52799" y="2865290"/>
            <a:ext cx="1967345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1657" y="2865290"/>
            <a:ext cx="555948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52800" y="3429000"/>
            <a:ext cx="8210204" cy="3009900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674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8700" y="209088"/>
            <a:ext cx="2514600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6019" y="219456"/>
            <a:ext cx="564341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705100"/>
            <a:ext cx="3603256" cy="36957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83D1CED-EDC4-B2B7-E11C-EF0ED41A913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935269" y="1175658"/>
            <a:ext cx="7256731" cy="5682342"/>
          </a:xfrm>
          <a:blipFill>
            <a:blip r:embed="rId2" cstate="email">
              <a:alphaModFix amt="6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755813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4607626"/>
            <a:ext cx="4419600" cy="164077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4508209-B462-E74A-288F-8910B06DE3A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14" y="0"/>
            <a:ext cx="4836786" cy="421419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41275" y="209088"/>
            <a:ext cx="2726376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0525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41276" y="1104900"/>
            <a:ext cx="5750381" cy="5143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510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3105335" cy="163651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2393" y="214858"/>
            <a:ext cx="2726376" cy="338328"/>
          </a:xfrm>
        </p:spPr>
        <p:txBody>
          <a:bodyPr/>
          <a:lstStyle/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055522" y="214858"/>
            <a:ext cx="2536988" cy="338328"/>
          </a:xfrm>
        </p:spPr>
        <p:txBody>
          <a:bodyPr/>
          <a:lstStyle/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14858"/>
            <a:ext cx="555948" cy="338328"/>
          </a:xfrm>
        </p:spPr>
        <p:txBody>
          <a:bodyPr/>
          <a:lstStyle/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A8D0EC2-AB64-20F7-00E1-73B35DEAA2D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3017520"/>
            <a:ext cx="3417902" cy="3840480"/>
          </a:xfrm>
          <a:blipFill>
            <a:blip r:embed="rId2">
              <a:alphaModFix amt="65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55522" y="1104901"/>
            <a:ext cx="7476571" cy="53339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8644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C26FEAF5-B987-7B83-7D1F-A4C535E2B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1" r="5781"/>
          <a:stretch>
            <a:fillRect/>
          </a:stretch>
        </p:blipFill>
        <p:spPr>
          <a:xfrm rot="10800000" flipH="1">
            <a:off x="0" y="-1"/>
            <a:ext cx="12192000" cy="6864096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E9DD887D-B316-418B-8AF4-4F941223A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2400" y="5082379"/>
            <a:ext cx="4000500" cy="1169230"/>
          </a:xfrm>
        </p:spPr>
        <p:txBody>
          <a:bodyPr anchor="b">
            <a:normAutofit/>
          </a:bodyPr>
          <a:lstStyle>
            <a:lvl1pPr>
              <a:defRPr sz="2000" spc="-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2400" y="209088"/>
            <a:ext cx="197069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42D9118-C154-84FE-9D86-92525287F07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280988" y="1063625"/>
            <a:ext cx="10428287" cy="3508375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26000"/>
            </a:lvl1pPr>
          </a:lstStyle>
          <a:p>
            <a:pPr lvl="0"/>
            <a:r>
              <a:rPr lang="en-US" dirty="0"/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49758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red and purple light&#10;&#10;AI-generated content may be incorrect.">
            <a:extLst>
              <a:ext uri="{FF2B5EF4-FFF2-40B4-BE49-F238E27FC236}">
                <a16:creationId xmlns:a16="http://schemas.microsoft.com/office/drawing/2014/main" id="{27A6C04A-3EE2-7293-8111-E4CF6B18B2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4" t="57458" r="22221" b="1"/>
          <a:stretch>
            <a:fillRect/>
          </a:stretch>
        </p:blipFill>
        <p:spPr>
          <a:xfrm rot="10800000">
            <a:off x="0" y="0"/>
            <a:ext cx="12192000" cy="480281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19099" y="2885606"/>
            <a:ext cx="8801101" cy="3553293"/>
          </a:xfrm>
        </p:spPr>
        <p:txBody>
          <a:bodyPr anchor="b">
            <a:normAutofit/>
          </a:bodyPr>
          <a:lstStyle>
            <a:lvl1pPr marL="0" indent="0">
              <a:lnSpc>
                <a:spcPct val="85000"/>
              </a:lnSpc>
              <a:buNone/>
              <a:defRPr sz="6000" b="0" spc="-50" baseline="0">
                <a:solidFill>
                  <a:schemeClr val="tx1"/>
                </a:solidFill>
              </a:defRPr>
            </a:lvl1pPr>
            <a:lvl2pPr marL="228600" indent="0">
              <a:lnSpc>
                <a:spcPct val="85000"/>
              </a:lnSpc>
              <a:buNone/>
              <a:defRPr sz="4400" b="0" spc="-50" baseline="0">
                <a:solidFill>
                  <a:schemeClr val="tx1"/>
                </a:solidFill>
              </a:defRPr>
            </a:lvl2pPr>
            <a:lvl3pPr marL="457200" indent="0">
              <a:lnSpc>
                <a:spcPct val="85000"/>
              </a:lnSpc>
              <a:buNone/>
              <a:defRPr sz="4000" b="0" spc="-50" baseline="0">
                <a:solidFill>
                  <a:schemeClr val="tx1"/>
                </a:solidFill>
              </a:defRPr>
            </a:lvl3pPr>
            <a:lvl4pPr marL="685800" indent="0">
              <a:lnSpc>
                <a:spcPct val="85000"/>
              </a:lnSpc>
              <a:buNone/>
              <a:defRPr sz="3600" b="0" spc="-50" baseline="0">
                <a:solidFill>
                  <a:schemeClr val="tx1"/>
                </a:solidFill>
              </a:defRPr>
            </a:lvl4pPr>
            <a:lvl5pPr marL="914400" indent="0">
              <a:lnSpc>
                <a:spcPct val="85000"/>
              </a:lnSpc>
              <a:buNone/>
              <a:defRPr sz="3200" b="0" spc="-50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120419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colorful background&#10;&#10;AI-generated content may be incorrect.">
            <a:extLst>
              <a:ext uri="{FF2B5EF4-FFF2-40B4-BE49-F238E27FC236}">
                <a16:creationId xmlns:a16="http://schemas.microsoft.com/office/drawing/2014/main" id="{56ABB8EC-1098-DCAC-E2E3-BCA53EEC62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1" t="22024" r="10011"/>
          <a:stretch>
            <a:fillRect/>
          </a:stretch>
        </p:blipFill>
        <p:spPr>
          <a:xfrm rot="10800000" flipH="1">
            <a:off x="0" y="0"/>
            <a:ext cx="12192000" cy="68640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899" y="4874218"/>
            <a:ext cx="8506567" cy="666427"/>
          </a:xfrm>
        </p:spPr>
        <p:txBody>
          <a:bodyPr anchor="ctr">
            <a:normAutofit/>
          </a:bodyPr>
          <a:lstStyle>
            <a:lvl1pPr algn="r">
              <a:lnSpc>
                <a:spcPct val="90000"/>
              </a:lnSpc>
              <a:defRPr sz="1400" b="0" cap="all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899" y="1856096"/>
            <a:ext cx="8506567" cy="2855388"/>
          </a:xfrm>
        </p:spPr>
        <p:txBody>
          <a:bodyPr anchor="ctr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62868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8382000" cy="70165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CA46A-141E-21AB-51BA-BA1F0F39570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8607D36-7013-02AC-69A9-8D38C5BBA7D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78824" y="1900238"/>
            <a:ext cx="4924425" cy="43481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388414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655" y="932098"/>
            <a:ext cx="10835539" cy="7040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01100" y="214858"/>
            <a:ext cx="192024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8654" y="1675614"/>
            <a:ext cx="491391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54769-C5D8-1BF0-C3A2-77216D6255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31800" y="2285022"/>
            <a:ext cx="4900773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1675614"/>
            <a:ext cx="4967694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B3527224-4234-3620-766D-DCCA3AFDF896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401" y="2285022"/>
            <a:ext cx="4982762" cy="396337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2833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8380309" cy="8761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9107642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989642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red and purple light&#10;&#10;AI-generated content may be incorrect.">
            <a:extLst>
              <a:ext uri="{FF2B5EF4-FFF2-40B4-BE49-F238E27FC236}">
                <a16:creationId xmlns:a16="http://schemas.microsoft.com/office/drawing/2014/main" id="{CC69B319-31FA-514C-5A82-30B4D1B20A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93" y="758952"/>
            <a:ext cx="7609668" cy="1734866"/>
          </a:xfrm>
        </p:spPr>
        <p:txBody>
          <a:bodyPr anchor="t">
            <a:noAutofit/>
          </a:bodyPr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9100" y="2705101"/>
            <a:ext cx="8801100" cy="29475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  <a:lvl2pPr>
              <a:defRPr lang="en-US" dirty="0">
                <a:solidFill>
                  <a:schemeClr val="tx1"/>
                </a:solidFill>
              </a:defRPr>
            </a:lvl2pPr>
            <a:lvl3pPr>
              <a:defRPr lang="en-US" dirty="0">
                <a:solidFill>
                  <a:schemeClr val="tx1"/>
                </a:solidFill>
              </a:defRPr>
            </a:lvl3pPr>
            <a:lvl4pPr>
              <a:defRPr lang="en-US" dirty="0">
                <a:solidFill>
                  <a:schemeClr val="tx1"/>
                </a:solidFill>
              </a:defRPr>
            </a:lvl4pPr>
            <a:lvl5pPr>
              <a:defRPr lang="en-US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804078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ed and purple light&#10;&#10;AI-generated content may be incorrect.">
            <a:extLst>
              <a:ext uri="{FF2B5EF4-FFF2-40B4-BE49-F238E27FC236}">
                <a16:creationId xmlns:a16="http://schemas.microsoft.com/office/drawing/2014/main" id="{86565871-9318-EC0D-5245-A159818CA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92"/>
          <a:stretch>
            <a:fillRect/>
          </a:stretch>
        </p:blipFill>
        <p:spPr>
          <a:xfrm flipH="1">
            <a:off x="-1" y="0"/>
            <a:ext cx="12191999" cy="6858000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687F1B09-5020-D2DD-189E-7226AD232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2" y="2704772"/>
            <a:ext cx="5465660" cy="2733384"/>
          </a:xfrm>
        </p:spPr>
        <p:txBody>
          <a:bodyPr/>
          <a:lstStyle>
            <a:lvl1pPr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8492B719-9068-0A96-E408-4EB3E9F85BE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05550" y="2705100"/>
            <a:ext cx="4410075" cy="1562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607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791" y="1113510"/>
            <a:ext cx="9942409" cy="8761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417" y="2133600"/>
            <a:ext cx="9942409" cy="4305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393" y="214858"/>
            <a:ext cx="272637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01100" y="214858"/>
            <a:ext cx="192024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11087675-5505-4ACD-A6CD-37E97363B537}" type="datetimeFigureOut">
              <a:rPr lang="bg-BG" smtClean="0"/>
              <a:t>1.9.2026 г.</a:t>
            </a:fld>
            <a:endParaRPr lang="bg-B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91657" y="214858"/>
            <a:ext cx="555948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700" cap="all" baseline="0">
                <a:solidFill>
                  <a:schemeClr val="tx1"/>
                </a:solidFill>
              </a:defRPr>
            </a:lvl1pPr>
          </a:lstStyle>
          <a:p>
            <a:fld id="{E077A389-3638-48F8-847B-7F520FEE528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598297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1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264">
          <p15:clr>
            <a:srgbClr val="F26B43"/>
          </p15:clr>
        </p15:guide>
        <p15:guide id="4" orient="horz" pos="264">
          <p15:clr>
            <a:srgbClr val="F26B43"/>
          </p15:clr>
        </p15:guide>
        <p15:guide id="5" pos="7416">
          <p15:clr>
            <a:srgbClr val="F26B43"/>
          </p15:clr>
        </p15:guide>
        <p15:guide id="12" pos="4632">
          <p15:clr>
            <a:srgbClr val="F26B43"/>
          </p15:clr>
        </p15:guide>
        <p15:guide id="13" pos="5544">
          <p15:clr>
            <a:srgbClr val="F26B43"/>
          </p15:clr>
        </p15:guide>
        <p15:guide id="26" pos="2784">
          <p15:clr>
            <a:srgbClr val="F26B43"/>
          </p15:clr>
        </p15:guide>
        <p15:guide id="27" pos="3048">
          <p15:clr>
            <a:srgbClr val="F26B43"/>
          </p15:clr>
        </p15:guide>
        <p15:guide id="29" pos="3960">
          <p15:clr>
            <a:srgbClr val="F26B43"/>
          </p15:clr>
        </p15:guide>
        <p15:guide id="30" pos="1176">
          <p15:clr>
            <a:srgbClr val="F26B43"/>
          </p15:clr>
        </p15:guide>
        <p15:guide id="31" pos="912">
          <p15:clr>
            <a:srgbClr val="F26B43"/>
          </p15:clr>
        </p15:guide>
        <p15:guide id="32" pos="3696">
          <p15:clr>
            <a:srgbClr val="F26B43"/>
          </p15:clr>
        </p15:guide>
        <p15:guide id="33" pos="1848">
          <p15:clr>
            <a:srgbClr val="F26B43"/>
          </p15:clr>
        </p15:guide>
        <p15:guide id="34" pos="2112">
          <p15:clr>
            <a:srgbClr val="F26B43"/>
          </p15:clr>
        </p15:guide>
        <p15:guide id="36" pos="6528">
          <p15:clr>
            <a:srgbClr val="F26B43"/>
          </p15:clr>
        </p15:guide>
        <p15:guide id="37" pos="6744">
          <p15:clr>
            <a:srgbClr val="F26B43"/>
          </p15:clr>
        </p15:guide>
        <p15:guide id="42" orient="horz" pos="393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7E095-0774-A3B8-C9D8-CAD0573DB1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6741" y="147134"/>
            <a:ext cx="6164195" cy="2762187"/>
          </a:xfrm>
        </p:spPr>
        <p:txBody>
          <a:bodyPr/>
          <a:lstStyle/>
          <a:p>
            <a:pPr algn="ctr"/>
            <a:r>
              <a:rPr lang="bg-BG" dirty="0"/>
              <a:t>Обектно-ориентирано програмиране (2 част) проект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3A11D5-958D-5B2D-72B7-9F5CA2E96B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95259" y="4714821"/>
            <a:ext cx="5206753" cy="1496616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bg-BG" sz="1500" dirty="0"/>
              <a:t>Изготвили:</a:t>
            </a:r>
          </a:p>
          <a:p>
            <a:pPr>
              <a:spcBef>
                <a:spcPts val="400"/>
              </a:spcBef>
            </a:pPr>
            <a:r>
              <a:rPr lang="bg-BG" sz="1500" dirty="0"/>
              <a:t>Александър Юриев Станков – ф.н. 23621614</a:t>
            </a:r>
          </a:p>
          <a:p>
            <a:pPr>
              <a:spcBef>
                <a:spcPts val="400"/>
              </a:spcBef>
            </a:pPr>
            <a:r>
              <a:rPr lang="bg-BG" sz="1500" dirty="0"/>
              <a:t>Николай Веселинов Георгиев– ф.н. 23621689</a:t>
            </a:r>
          </a:p>
          <a:p>
            <a:pPr>
              <a:spcBef>
                <a:spcPts val="400"/>
              </a:spcBef>
            </a:pPr>
            <a:r>
              <a:rPr lang="bg-BG" sz="1500" dirty="0"/>
              <a:t>Специалност: СИТ, Група: 2</a:t>
            </a:r>
          </a:p>
          <a:p>
            <a:pPr>
              <a:spcBef>
                <a:spcPts val="400"/>
              </a:spcBef>
            </a:pPr>
            <a:r>
              <a:rPr lang="bg-BG" sz="1500" dirty="0"/>
              <a:t>Дата на представяне: 02.09.2026 г.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D0C4FB-FB7F-A15D-112E-C8D4BAB2E085}"/>
              </a:ext>
            </a:extLst>
          </p:cNvPr>
          <p:cNvSpPr txBox="1">
            <a:spLocks/>
          </p:cNvSpPr>
          <p:nvPr/>
        </p:nvSpPr>
        <p:spPr>
          <a:xfrm>
            <a:off x="6701413" y="2909321"/>
            <a:ext cx="4800600" cy="14966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b="0" kern="1200" spc="-11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dirty="0"/>
              <a:t>Вариант 1: Библиотека</a:t>
            </a:r>
          </a:p>
        </p:txBody>
      </p:sp>
    </p:spTree>
    <p:extLst>
      <p:ext uri="{BB962C8B-B14F-4D97-AF65-F5344CB8AC3E}">
        <p14:creationId xmlns:p14="http://schemas.microsoft.com/office/powerpoint/2010/main" val="1446512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8D83E-7F46-F7DA-69A7-4610DFA42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pPr algn="ctr"/>
            <a:r>
              <a:rPr lang="bg-BG" sz="7200" dirty="0"/>
              <a:t>Съдържание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9DCF1-3131-BB26-4CF7-7BB5C83BCEE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53300" y="1078992"/>
            <a:ext cx="4305299" cy="5169408"/>
          </a:xfrm>
        </p:spPr>
        <p:txBody>
          <a:bodyPr>
            <a:normAutofit/>
          </a:bodyPr>
          <a:lstStyle/>
          <a:p>
            <a:pPr>
              <a:spcBef>
                <a:spcPts val="400"/>
              </a:spcBef>
            </a:pPr>
            <a:r>
              <a:rPr lang="bg-BG" sz="1800" dirty="0"/>
              <a:t>Задание на проекта</a:t>
            </a:r>
          </a:p>
          <a:p>
            <a:pPr>
              <a:spcBef>
                <a:spcPts val="400"/>
              </a:spcBef>
            </a:pPr>
            <a:r>
              <a:rPr lang="bg-BG" sz="1800" dirty="0"/>
              <a:t>Анализ на проблема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Функционални изисквания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Проучване и избор на технологии за реализация на системата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Структура на проекта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Дефиниция на модулите в системата</a:t>
            </a:r>
          </a:p>
          <a:p>
            <a:pPr>
              <a:spcBef>
                <a:spcPts val="400"/>
              </a:spcBef>
            </a:pPr>
            <a:r>
              <a:rPr lang="bg-BG" sz="1800" dirty="0"/>
              <a:t>Проектиране на системата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База от данни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Графичен интерфейс</a:t>
            </a:r>
          </a:p>
          <a:p>
            <a:pPr lvl="1">
              <a:spcBef>
                <a:spcPts val="400"/>
              </a:spcBef>
            </a:pPr>
            <a:r>
              <a:rPr lang="bg-BG" sz="1800" dirty="0"/>
              <a:t>Бизнес логика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7EF165-C0C0-1795-7961-79CBC07624F7}"/>
              </a:ext>
            </a:extLst>
          </p:cNvPr>
          <p:cNvSpPr txBox="1"/>
          <p:nvPr/>
        </p:nvSpPr>
        <p:spPr>
          <a:xfrm>
            <a:off x="368368" y="5413248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156519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571AF-FF07-2BB6-F695-26BF79C0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77" y="164592"/>
            <a:ext cx="5378267" cy="545052"/>
          </a:xfrm>
        </p:spPr>
        <p:txBody>
          <a:bodyPr/>
          <a:lstStyle/>
          <a:p>
            <a:pPr>
              <a:spcBef>
                <a:spcPts val="400"/>
              </a:spcBef>
            </a:pPr>
            <a:r>
              <a:rPr lang="bg-BG" sz="3200" dirty="0"/>
              <a:t>1. Задание на проекта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C9DD9-DFD2-D546-2F54-F31DF744D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476" y="709644"/>
            <a:ext cx="9896100" cy="5892324"/>
          </a:xfrm>
        </p:spPr>
        <p:txBody>
          <a:bodyPr numCol="2">
            <a:noAutofit/>
          </a:bodyPr>
          <a:lstStyle/>
          <a:p>
            <a:pPr>
              <a:spcBef>
                <a:spcPts val="200"/>
              </a:spcBef>
            </a:pPr>
            <a:r>
              <a:rPr lang="bg-BG" dirty="0"/>
              <a:t>	Да се разработи информационна система - Библиотека. Програмата съхранява и обработва данни за книги и читатели. Системата позволява множествен достъп. Системата поддържа два вида потребители администратор и клиенти (оператори и читатели) с различни роли за достъп до функционалностите в системата.</a:t>
            </a:r>
          </a:p>
          <a:p>
            <a:pPr>
              <a:spcBef>
                <a:spcPts val="200"/>
              </a:spcBef>
            </a:pPr>
            <a:endParaRPr lang="bg-BG" dirty="0"/>
          </a:p>
          <a:p>
            <a:pPr>
              <a:spcBef>
                <a:spcPts val="200"/>
              </a:spcBef>
            </a:pPr>
            <a:r>
              <a:rPr lang="bg-BG" dirty="0"/>
              <a:t>Операции за работа с потребители: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Създаване на оператори от администратор;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Създаване и отписване на читатели от оператор;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Формуляр за създаване на читателски профил;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Отдаване на книги.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bg-BG" dirty="0"/>
          </a:p>
          <a:p>
            <a:pPr>
              <a:spcBef>
                <a:spcPts val="200"/>
              </a:spcBef>
            </a:pPr>
            <a:r>
              <a:rPr lang="bg-BG" dirty="0"/>
              <a:t>Системата поддържа операции за работа с книги: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Добавяне на нови книги (Инвентарен номер, заглавие, автор, жанр…);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Заемане на книги (различно ниво на сигурност при заемането на книги (читалня, изнасяне));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Връщане на книга;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Бракуване на повредени книги;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Архивиране на стари издания (ползвани само в читалня).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endParaRPr lang="bg-BG" dirty="0"/>
          </a:p>
          <a:p>
            <a:pPr>
              <a:spcBef>
                <a:spcPts val="200"/>
              </a:spcBef>
            </a:pPr>
            <a:r>
              <a:rPr lang="bg-BG" dirty="0"/>
              <a:t>Системата поддържа справки за: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Подадени формуляри (дата, статус, съдържание на формуляра);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Книги (Състояние на книгата, информация за книгата);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Потребители (дата на одобрение, списък с книги, потребителска информация);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Рейтинг на потребителите (лоялни и нелоялни читатели).</a:t>
            </a:r>
          </a:p>
          <a:p>
            <a:pPr lvl="0">
              <a:spcBef>
                <a:spcPts val="200"/>
              </a:spcBef>
            </a:pPr>
            <a:endParaRPr lang="bg-BG" dirty="0"/>
          </a:p>
          <a:p>
            <a:pPr>
              <a:spcBef>
                <a:spcPts val="200"/>
              </a:spcBef>
            </a:pPr>
            <a:r>
              <a:rPr lang="bg-BG" dirty="0"/>
              <a:t>Системата поддържа Известия за събития: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Заявка за откриване на читателски профил;</a:t>
            </a:r>
          </a:p>
          <a:p>
            <a:pPr marL="171450" lvl="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Известяване за необходимост за архивиране на книга;</a:t>
            </a:r>
          </a:p>
          <a:p>
            <a:pPr marL="171450" indent="-1714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dirty="0"/>
              <a:t>Просрочване връщането на книги.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47E84B-9B8C-84C0-6D92-6228CC07B610}"/>
              </a:ext>
            </a:extLst>
          </p:cNvPr>
          <p:cNvSpPr txBox="1"/>
          <p:nvPr/>
        </p:nvSpPr>
        <p:spPr>
          <a:xfrm>
            <a:off x="7259083" y="5401639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279807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04F55-383A-A209-6494-0EBD28216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92" y="493776"/>
            <a:ext cx="3507989" cy="1572768"/>
          </a:xfrm>
        </p:spPr>
        <p:txBody>
          <a:bodyPr anchor="ctr">
            <a:normAutofit/>
          </a:bodyPr>
          <a:lstStyle/>
          <a:p>
            <a:pPr algn="ctr"/>
            <a:r>
              <a:rPr lang="bg-BG" sz="4400" dirty="0"/>
              <a:t>2. Анализ на проблема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58F25B-1EF3-54B9-15BE-5BF970D7EDF5}"/>
              </a:ext>
            </a:extLst>
          </p:cNvPr>
          <p:cNvSpPr txBox="1"/>
          <p:nvPr/>
        </p:nvSpPr>
        <p:spPr>
          <a:xfrm>
            <a:off x="415294" y="4377511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6160DE0-9202-67AB-4487-93BA8D2C4D6C}"/>
              </a:ext>
            </a:extLst>
          </p:cNvPr>
          <p:cNvSpPr txBox="1">
            <a:spLocks/>
          </p:cNvSpPr>
          <p:nvPr/>
        </p:nvSpPr>
        <p:spPr>
          <a:xfrm>
            <a:off x="193292" y="2066544"/>
            <a:ext cx="3507989" cy="1572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2800" dirty="0"/>
              <a:t>2.1 Функционални изисквания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065BDAF-B930-2765-6E8E-701230F08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8655" y="177830"/>
            <a:ext cx="3336817" cy="24000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64E23B-442D-16D4-CE1F-A7D08C43E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1142" y="177487"/>
            <a:ext cx="4110610" cy="220534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FD6FB68-BF11-0663-C67C-66977A3058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0606" y="2998881"/>
            <a:ext cx="3843757" cy="2213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89654F-4B73-31BC-2AE4-22E333239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5857" y="2694648"/>
            <a:ext cx="4165895" cy="163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207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CB0D160-1849-FEDF-98EF-2C2C0EFE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803" y="611002"/>
            <a:ext cx="5018278" cy="1957128"/>
          </a:xfrm>
          <a:prstGeom prst="rect">
            <a:avLst/>
          </a:prstGeom>
          <a:noFill/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FA3489-D7CA-3A68-9DCA-CE1F9EE4D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03" y="3507057"/>
            <a:ext cx="5018278" cy="231214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190EB8-5C24-B0AB-15F6-85BA11F8E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0765" y="1170432"/>
            <a:ext cx="3038312" cy="4142232"/>
          </a:xfrm>
          <a:prstGeom prst="rect">
            <a:avLst/>
          </a:prstGeom>
        </p:spPr>
      </p:pic>
      <p:sp>
        <p:nvSpPr>
          <p:cNvPr id="18" name="Title 1">
            <a:extLst>
              <a:ext uri="{FF2B5EF4-FFF2-40B4-BE49-F238E27FC236}">
                <a16:creationId xmlns:a16="http://schemas.microsoft.com/office/drawing/2014/main" id="{743ADB64-7820-35AC-A513-8A0F883BA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9077" y="832104"/>
            <a:ext cx="3507989" cy="1572768"/>
          </a:xfrm>
        </p:spPr>
        <p:txBody>
          <a:bodyPr anchor="ctr">
            <a:normAutofit/>
          </a:bodyPr>
          <a:lstStyle/>
          <a:p>
            <a:pPr algn="ctr"/>
            <a:r>
              <a:rPr lang="bg-BG" sz="4400" dirty="0"/>
              <a:t>2. Анализ на проблема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D06EA5-282A-77B3-2426-6BDF53ADBB33}"/>
              </a:ext>
            </a:extLst>
          </p:cNvPr>
          <p:cNvSpPr txBox="1"/>
          <p:nvPr/>
        </p:nvSpPr>
        <p:spPr>
          <a:xfrm>
            <a:off x="8721079" y="4715839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B0DC61D-8561-806C-E15B-69489C2F13B8}"/>
              </a:ext>
            </a:extLst>
          </p:cNvPr>
          <p:cNvSpPr txBox="1">
            <a:spLocks/>
          </p:cNvSpPr>
          <p:nvPr/>
        </p:nvSpPr>
        <p:spPr>
          <a:xfrm>
            <a:off x="8499077" y="2404872"/>
            <a:ext cx="3507989" cy="15727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2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sz="2800" dirty="0"/>
              <a:t>2.1 Функционални изисквания</a:t>
            </a:r>
          </a:p>
        </p:txBody>
      </p:sp>
    </p:spTree>
    <p:extLst>
      <p:ext uri="{BB962C8B-B14F-4D97-AF65-F5344CB8AC3E}">
        <p14:creationId xmlns:p14="http://schemas.microsoft.com/office/powerpoint/2010/main" val="42745796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F2E4D-CDCE-2CC1-0F5B-E2D910A0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55" y="201168"/>
            <a:ext cx="5378267" cy="1554480"/>
          </a:xfrm>
        </p:spPr>
        <p:txBody>
          <a:bodyPr>
            <a:normAutofit fontScale="90000"/>
          </a:bodyPr>
          <a:lstStyle/>
          <a:p>
            <a:r>
              <a:rPr lang="en-US" dirty="0"/>
              <a:t>2.2 </a:t>
            </a:r>
            <a:r>
              <a:rPr lang="bg-BG" sz="3200" dirty="0"/>
              <a:t>Проучване и избор на технологии за реализация на системата</a:t>
            </a:r>
            <a:br>
              <a:rPr lang="bg-BG" sz="3200" dirty="0"/>
            </a:b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EEBC6-2059-A51A-FF07-D9FC7B83DD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400"/>
              </a:spcBef>
            </a:pPr>
            <a:r>
              <a:rPr lang="bg-BG" sz="1600" dirty="0"/>
              <a:t>Програмен език: </a:t>
            </a:r>
            <a:r>
              <a:rPr lang="en-US" sz="1600" dirty="0"/>
              <a:t>Java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Система за управление и интеграция на библиотеки: </a:t>
            </a:r>
            <a:r>
              <a:rPr lang="en-US" sz="1600" dirty="0"/>
              <a:t>Maven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Графичен интерфейс: </a:t>
            </a:r>
            <a:r>
              <a:rPr lang="en-US" sz="1600" dirty="0"/>
              <a:t>JavaFX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База от данни:</a:t>
            </a:r>
          </a:p>
          <a:p>
            <a:pPr marL="285750" indent="-285750">
              <a:spcBef>
                <a:spcPts val="400"/>
              </a:spcBef>
              <a:buFontTx/>
              <a:buChar char="-"/>
            </a:pPr>
            <a:r>
              <a:rPr lang="bg-BG" sz="1600" dirty="0"/>
              <a:t>Основна база: </a:t>
            </a:r>
            <a:r>
              <a:rPr lang="en-US" sz="1600" dirty="0"/>
              <a:t>MySQL</a:t>
            </a:r>
          </a:p>
          <a:p>
            <a:pPr marL="285750" indent="-285750">
              <a:spcBef>
                <a:spcPts val="400"/>
              </a:spcBef>
              <a:buFontTx/>
              <a:buChar char="-"/>
            </a:pPr>
            <a:r>
              <a:rPr lang="bg-BG" sz="1600" dirty="0"/>
              <a:t>База за тестване: </a:t>
            </a:r>
            <a:r>
              <a:rPr lang="en-US" sz="1600" dirty="0"/>
              <a:t>H2 in-memory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Слой за работа с база от данни:</a:t>
            </a:r>
            <a:r>
              <a:rPr lang="en-US" sz="1600" dirty="0"/>
              <a:t> Java Database Connectivity Driver (JDBC Driver),</a:t>
            </a:r>
            <a:r>
              <a:rPr lang="bg-BG" sz="1600" dirty="0"/>
              <a:t> </a:t>
            </a:r>
            <a:r>
              <a:rPr lang="en-US" sz="1600" dirty="0"/>
              <a:t>Jakarta Persistence API (JPA) </a:t>
            </a:r>
            <a:r>
              <a:rPr lang="bg-BG" sz="1600" dirty="0"/>
              <a:t>и </a:t>
            </a:r>
            <a:r>
              <a:rPr lang="en-US" sz="1600" dirty="0"/>
              <a:t>Hibernate ORM</a:t>
            </a:r>
          </a:p>
          <a:p>
            <a:pPr>
              <a:spcBef>
                <a:spcPts val="400"/>
              </a:spcBef>
            </a:pPr>
            <a:r>
              <a:rPr lang="bg-BG" sz="1600" dirty="0" err="1"/>
              <a:t>Хеширане</a:t>
            </a:r>
            <a:r>
              <a:rPr lang="bg-BG" sz="1600" dirty="0"/>
              <a:t>: </a:t>
            </a:r>
            <a:r>
              <a:rPr lang="en-US" sz="1600" dirty="0"/>
              <a:t>Spring Security Crypto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Регистриране на събития: </a:t>
            </a:r>
            <a:r>
              <a:rPr lang="en-US" sz="1600" dirty="0"/>
              <a:t>Log4J</a:t>
            </a:r>
          </a:p>
          <a:p>
            <a:pPr>
              <a:spcBef>
                <a:spcPts val="400"/>
              </a:spcBef>
            </a:pPr>
            <a:r>
              <a:rPr lang="bg-BG" sz="1600" dirty="0"/>
              <a:t>Автоматични тестове: </a:t>
            </a:r>
            <a:r>
              <a:rPr lang="en-US" sz="1600" dirty="0"/>
              <a:t>JUnit</a:t>
            </a:r>
            <a:endParaRPr lang="bg-BG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42F9B-2793-AB31-0DB7-715FEAF6BA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66" y="201168"/>
            <a:ext cx="1573542" cy="9834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E78508C-34FB-1D82-CC64-F25D78F3E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617" y="0"/>
            <a:ext cx="1309127" cy="13091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7BDBF9-4745-AAB1-A070-C7A129E09FB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472" y="2551862"/>
            <a:ext cx="1200330" cy="1200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24A3C2-1738-4802-5C25-0AFFBA8863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866" y="1428293"/>
            <a:ext cx="1740420" cy="72606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4E4BBC5-E9B0-32C7-2A29-8A2B162B8B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5173" y="1428293"/>
            <a:ext cx="1123569" cy="112356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986079-5293-9F3F-3AB8-3D8213FB42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118" y="2898192"/>
            <a:ext cx="1873677" cy="103345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DE078CB-00E0-60D2-CB0E-109B6922B474}"/>
              </a:ext>
            </a:extLst>
          </p:cNvPr>
          <p:cNvSpPr txBox="1"/>
          <p:nvPr/>
        </p:nvSpPr>
        <p:spPr>
          <a:xfrm>
            <a:off x="5805745" y="5529476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D322116-9A2C-861A-BA19-65A717C878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951" y="3931642"/>
            <a:ext cx="1793371" cy="109844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D1EBFD-2D35-5273-B246-05D8F657CF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0118" y="4140927"/>
            <a:ext cx="2742511" cy="1134214"/>
          </a:xfrm>
          <a:prstGeom prst="rect">
            <a:avLst/>
          </a:prstGeom>
        </p:spPr>
      </p:pic>
      <p:pic>
        <p:nvPicPr>
          <p:cNvPr id="22" name="Picture 21" descr="JUnit">
            <a:extLst>
              <a:ext uri="{FF2B5EF4-FFF2-40B4-BE49-F238E27FC236}">
                <a16:creationId xmlns:a16="http://schemas.microsoft.com/office/drawing/2014/main" id="{DB59D80D-15E1-7D7A-E10A-8A03BE2DFAB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251808" y="5738935"/>
            <a:ext cx="2753867" cy="781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29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4CEF-812C-6BA0-F077-6E1DE6CAF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230" y="1115568"/>
            <a:ext cx="3603256" cy="1409878"/>
          </a:xfrm>
        </p:spPr>
        <p:txBody>
          <a:bodyPr anchor="t">
            <a:normAutofit/>
          </a:bodyPr>
          <a:lstStyle/>
          <a:p>
            <a:r>
              <a:rPr lang="en-US" dirty="0"/>
              <a:t>2.3 </a:t>
            </a:r>
            <a:r>
              <a:rPr lang="bg-BG" dirty="0"/>
              <a:t>Структура на проекта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6FBDC36-0A50-D06F-C283-B52C9B7D41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30" y="2174748"/>
            <a:ext cx="3603256" cy="3695700"/>
          </a:xfrm>
        </p:spPr>
        <p:txBody>
          <a:bodyPr>
            <a:normAutofit/>
          </a:bodyPr>
          <a:lstStyle/>
          <a:p>
            <a:pPr>
              <a:spcBef>
                <a:spcPts val="200"/>
              </a:spcBef>
            </a:pPr>
            <a:r>
              <a:rPr lang="bg-BG" sz="1600" dirty="0"/>
              <a:t>Избрана структура</a:t>
            </a:r>
            <a:r>
              <a:rPr lang="en-US" sz="1600" dirty="0"/>
              <a:t> </a:t>
            </a:r>
            <a:r>
              <a:rPr lang="bg-BG" sz="1600" dirty="0"/>
              <a:t>на проекта: </a:t>
            </a:r>
            <a:r>
              <a:rPr lang="en-US" sz="1600" dirty="0"/>
              <a:t>Model-View-Controller (MVC)</a:t>
            </a:r>
            <a:endParaRPr lang="bg-BG" sz="1600" dirty="0"/>
          </a:p>
          <a:p>
            <a:pPr>
              <a:spcBef>
                <a:spcPts val="200"/>
              </a:spcBef>
            </a:pPr>
            <a:r>
              <a:rPr lang="bg-BG" sz="1600" dirty="0"/>
              <a:t>Причини за избор: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sz="1600" dirty="0"/>
              <a:t>Разделение на отговорностите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sz="1600" dirty="0"/>
              <a:t>Подобрява четимостта на кода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sz="1600" dirty="0"/>
              <a:t>Лесен за имплементация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sz="1600" dirty="0"/>
              <a:t>Лесен за разширяване </a:t>
            </a:r>
          </a:p>
          <a:p>
            <a:pPr marL="285750" indent="-285750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bg-BG" sz="1600" dirty="0"/>
              <a:t>Лесен за откриване и оправяне на бъгове</a:t>
            </a:r>
            <a:endParaRPr lang="en-US" sz="1600" dirty="0"/>
          </a:p>
        </p:txBody>
      </p:sp>
      <p:pic>
        <p:nvPicPr>
          <p:cNvPr id="5" name="Picture 4" descr="Model–view–controller - Wikipedia">
            <a:extLst>
              <a:ext uri="{FF2B5EF4-FFF2-40B4-BE49-F238E27FC236}">
                <a16:creationId xmlns:a16="http://schemas.microsoft.com/office/drawing/2014/main" id="{95190487-DF7B-4076-5573-C348AF481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18458"/>
            <a:ext cx="5138287" cy="5682342"/>
          </a:xfrm>
          <a:prstGeom prst="rect">
            <a:avLst/>
          </a:prstGeom>
          <a:noFill/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4F241EB-1BE3-284A-4C75-21BB935A5662}"/>
              </a:ext>
            </a:extLst>
          </p:cNvPr>
          <p:cNvSpPr txBox="1"/>
          <p:nvPr/>
        </p:nvSpPr>
        <p:spPr>
          <a:xfrm>
            <a:off x="446230" y="5200471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41561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556C-69C9-ED92-6DFB-17B706E99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bg-BG" sz="3600" dirty="0"/>
              <a:t>2.4 Дефиниция на модулите в системата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28C03-0312-E7A7-99E5-E3DC4DD8F9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11820" y="1123950"/>
            <a:ext cx="4933950" cy="5276850"/>
          </a:xfrm>
        </p:spPr>
        <p:txBody>
          <a:bodyPr>
            <a:normAutofit lnSpcReduction="10000"/>
          </a:bodyPr>
          <a:lstStyle/>
          <a:p>
            <a:pPr lvl="0"/>
            <a:r>
              <a:rPr lang="en-US" sz="1600" b="1" dirty="0"/>
              <a:t>Views</a:t>
            </a:r>
            <a:r>
              <a:rPr lang="en-US" sz="1600" dirty="0"/>
              <a:t> – </a:t>
            </a:r>
            <a:r>
              <a:rPr lang="bg-BG" sz="1600" dirty="0"/>
              <a:t>Съдържа файловете, определящи графичния интерфейс на програмата. </a:t>
            </a:r>
          </a:p>
          <a:p>
            <a:pPr lvl="0"/>
            <a:r>
              <a:rPr lang="en-US" sz="1600" b="1" dirty="0"/>
              <a:t>Controllers</a:t>
            </a:r>
            <a:r>
              <a:rPr lang="en-US" sz="1600" dirty="0"/>
              <a:t> – </a:t>
            </a:r>
            <a:r>
              <a:rPr lang="bg-BG" sz="1600" dirty="0"/>
              <a:t>Съдържа логиката, която се изпълнява при работа с контролите на потребителския интерфейс.</a:t>
            </a:r>
          </a:p>
          <a:p>
            <a:pPr lvl="0"/>
            <a:r>
              <a:rPr lang="en-US" sz="1600" b="1" dirty="0"/>
              <a:t>Models</a:t>
            </a:r>
            <a:r>
              <a:rPr lang="en-US" sz="1600" dirty="0"/>
              <a:t> – </a:t>
            </a:r>
            <a:r>
              <a:rPr lang="bg-BG" sz="1600" dirty="0"/>
              <a:t>Съдържа класовете, които дефинират структурата на обектите. </a:t>
            </a:r>
          </a:p>
          <a:p>
            <a:pPr lvl="0"/>
            <a:r>
              <a:rPr lang="bg-BG" sz="1600" b="1" dirty="0"/>
              <a:t>Config</a:t>
            </a:r>
            <a:r>
              <a:rPr lang="bg-BG" sz="1600" dirty="0"/>
              <a:t> – Конфигурационни класове.</a:t>
            </a:r>
          </a:p>
          <a:p>
            <a:pPr lvl="0"/>
            <a:r>
              <a:rPr lang="en-US" sz="1600" b="1" dirty="0"/>
              <a:t>Exceptions</a:t>
            </a:r>
            <a:r>
              <a:rPr lang="en-US" sz="1600" dirty="0"/>
              <a:t> – </a:t>
            </a:r>
            <a:r>
              <a:rPr lang="bg-BG" sz="1600" dirty="0"/>
              <a:t>Дефинира изключения, използвани в реализацията на бизнес логиката.</a:t>
            </a:r>
          </a:p>
          <a:p>
            <a:pPr lvl="0"/>
            <a:r>
              <a:rPr lang="en-US" sz="1600" b="1" dirty="0"/>
              <a:t>Repository</a:t>
            </a:r>
            <a:r>
              <a:rPr lang="en-US" sz="1600" dirty="0"/>
              <a:t> - </a:t>
            </a:r>
            <a:r>
              <a:rPr lang="bg-BG" sz="1600" dirty="0"/>
              <a:t>Дефинира логиката за достъп до данните в СУБД.</a:t>
            </a:r>
          </a:p>
          <a:p>
            <a:pPr lvl="0"/>
            <a:r>
              <a:rPr lang="en-US" sz="1600" b="1" dirty="0"/>
              <a:t>Util </a:t>
            </a:r>
            <a:r>
              <a:rPr lang="bg-BG" sz="1600" dirty="0"/>
              <a:t>– Помощни класове.</a:t>
            </a:r>
          </a:p>
          <a:p>
            <a:pPr lvl="0"/>
            <a:r>
              <a:rPr lang="en-US" sz="1600" b="1" dirty="0"/>
              <a:t>Services – </a:t>
            </a:r>
            <a:r>
              <a:rPr lang="bg-BG" sz="1600" dirty="0"/>
              <a:t>Съдържа класовете, изпълняващи бизнес логиката.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8662ED-E218-76AD-E381-096B37BDC8E6}"/>
              </a:ext>
            </a:extLst>
          </p:cNvPr>
          <p:cNvSpPr txBox="1"/>
          <p:nvPr/>
        </p:nvSpPr>
        <p:spPr>
          <a:xfrm>
            <a:off x="446230" y="5200471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3984592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B3EF7-DFAF-9CEC-ECF0-FF8E9B45A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sz="6000" dirty="0"/>
              <a:t>3. Проектиране на системата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5D72A-2498-841B-03F2-35C27BDCA57A}"/>
              </a:ext>
            </a:extLst>
          </p:cNvPr>
          <p:cNvSpPr txBox="1"/>
          <p:nvPr/>
        </p:nvSpPr>
        <p:spPr>
          <a:xfrm>
            <a:off x="8717527" y="5479776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34315384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A44B0-6F9A-F3B6-DE42-4084E9ABD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349" y="1905762"/>
            <a:ext cx="3507989" cy="3233928"/>
          </a:xfrm>
        </p:spPr>
        <p:txBody>
          <a:bodyPr anchor="ctr">
            <a:normAutofit/>
          </a:bodyPr>
          <a:lstStyle/>
          <a:p>
            <a:r>
              <a:rPr lang="bg-BG" sz="3600" dirty="0"/>
              <a:t>3.1 База от данни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1EC5D3-017A-0A00-E252-9A1AC4562373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727" y="533400"/>
            <a:ext cx="6203408" cy="54070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9FDF9-8B71-2301-E34D-04B43DA91656}"/>
              </a:ext>
            </a:extLst>
          </p:cNvPr>
          <p:cNvSpPr txBox="1"/>
          <p:nvPr/>
        </p:nvSpPr>
        <p:spPr>
          <a:xfrm>
            <a:off x="6591300" y="6200775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dirty="0"/>
              <a:t>Релационен модел на базата от данни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74E389-E4EB-DC27-33BD-2C874CE2938E}"/>
              </a:ext>
            </a:extLst>
          </p:cNvPr>
          <p:cNvSpPr txBox="1"/>
          <p:nvPr/>
        </p:nvSpPr>
        <p:spPr>
          <a:xfrm>
            <a:off x="357865" y="5369778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2388772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71A69-B9CB-BA3A-7285-AB5A5DCB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477" y="390524"/>
            <a:ext cx="5378267" cy="587381"/>
          </a:xfrm>
        </p:spPr>
        <p:txBody>
          <a:bodyPr anchor="b">
            <a:normAutofit/>
          </a:bodyPr>
          <a:lstStyle/>
          <a:p>
            <a:r>
              <a:rPr lang="bg-BG" dirty="0"/>
              <a:t>3.1 База от Данни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400BFE-1CCD-1C38-E2EA-C6045E731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477" y="1221009"/>
            <a:ext cx="8350324" cy="441598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EDC64EF-2CF1-9C20-A1B9-451A232A0A74}"/>
              </a:ext>
            </a:extLst>
          </p:cNvPr>
          <p:cNvSpPr txBox="1"/>
          <p:nvPr/>
        </p:nvSpPr>
        <p:spPr>
          <a:xfrm>
            <a:off x="2210396" y="5890051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bg-BG" sz="2000" dirty="0"/>
              <a:t>Модел на Чен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5ABF32-AC88-857A-1E40-FD372892A6DE}"/>
              </a:ext>
            </a:extLst>
          </p:cNvPr>
          <p:cNvSpPr txBox="1"/>
          <p:nvPr/>
        </p:nvSpPr>
        <p:spPr>
          <a:xfrm>
            <a:off x="8901790" y="5474553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4816310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2CCAD-E223-41CC-5C00-E0528D00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266" y="470081"/>
            <a:ext cx="9942409" cy="876193"/>
          </a:xfrm>
        </p:spPr>
        <p:txBody>
          <a:bodyPr/>
          <a:lstStyle/>
          <a:p>
            <a:r>
              <a:rPr lang="bg-BG" dirty="0"/>
              <a:t>3.2 Графичен потребителски интерфейс (</a:t>
            </a:r>
            <a:r>
              <a:rPr lang="en-US" dirty="0"/>
              <a:t>GUI)</a:t>
            </a:r>
            <a:endParaRPr lang="bg-BG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161C1D7-8D43-D129-6FEC-2648EB7DB0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940" y="938640"/>
            <a:ext cx="5212256" cy="49807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22C3E-D524-419A-7208-A8221E4627A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943" y="916035"/>
            <a:ext cx="5394682" cy="43724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7C7A36B-4075-226E-C8D2-8D9498C13A02}"/>
              </a:ext>
            </a:extLst>
          </p:cNvPr>
          <p:cNvSpPr txBox="1"/>
          <p:nvPr/>
        </p:nvSpPr>
        <p:spPr>
          <a:xfrm>
            <a:off x="3353396" y="5987809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Use Case </a:t>
            </a:r>
            <a:r>
              <a:rPr lang="bg-BG" sz="2000" dirty="0"/>
              <a:t>диаграма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929269-13AC-E890-A896-702964A7CB67}"/>
              </a:ext>
            </a:extLst>
          </p:cNvPr>
          <p:cNvSpPr txBox="1"/>
          <p:nvPr/>
        </p:nvSpPr>
        <p:spPr>
          <a:xfrm>
            <a:off x="8901790" y="5474553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21923697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8B9D6-B6DD-2A13-0F99-EBD12ED30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115568"/>
            <a:ext cx="2514600" cy="1580007"/>
          </a:xfrm>
        </p:spPr>
        <p:txBody>
          <a:bodyPr>
            <a:normAutofit/>
          </a:bodyPr>
          <a:lstStyle/>
          <a:p>
            <a:r>
              <a:rPr lang="bg-BG" sz="3600" dirty="0"/>
              <a:t>3.3 Бизнес Логика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1E40334-19BD-76FE-70CD-FA6B997AF12B}"/>
              </a:ext>
            </a:extLst>
          </p:cNvPr>
          <p:cNvSpPr txBox="1">
            <a:spLocks/>
          </p:cNvSpPr>
          <p:nvPr/>
        </p:nvSpPr>
        <p:spPr>
          <a:xfrm>
            <a:off x="419100" y="2405712"/>
            <a:ext cx="2514600" cy="1756714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2800" dirty="0"/>
              <a:t>Слой за работа с база от данни</a:t>
            </a:r>
            <a:endParaRPr lang="en-US" sz="2800" dirty="0"/>
          </a:p>
          <a:p>
            <a:endParaRPr lang="bg-BG" sz="2800" dirty="0"/>
          </a:p>
          <a:p>
            <a:r>
              <a:rPr lang="bg-BG" sz="2800" dirty="0"/>
              <a:t>(</a:t>
            </a:r>
            <a:r>
              <a:rPr lang="en-US" sz="2800" dirty="0"/>
              <a:t>Repository layer</a:t>
            </a:r>
            <a:r>
              <a:rPr lang="bg-BG" sz="2800" dirty="0"/>
              <a:t>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F9F092-CBA7-C54B-C45D-66DF376B0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175" y="267763"/>
            <a:ext cx="8313014" cy="60473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A9F9C4C-3540-22BF-6F2A-9E2841FDA83A}"/>
              </a:ext>
            </a:extLst>
          </p:cNvPr>
          <p:cNvSpPr txBox="1"/>
          <p:nvPr/>
        </p:nvSpPr>
        <p:spPr>
          <a:xfrm>
            <a:off x="5706071" y="6390182"/>
            <a:ext cx="441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Class</a:t>
            </a:r>
            <a:r>
              <a:rPr lang="bg-BG" sz="2000" dirty="0"/>
              <a:t> диаграма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16A942-C27B-3085-023B-802A3CB80C6B}"/>
              </a:ext>
            </a:extLst>
          </p:cNvPr>
          <p:cNvSpPr txBox="1"/>
          <p:nvPr/>
        </p:nvSpPr>
        <p:spPr>
          <a:xfrm>
            <a:off x="144153" y="5114745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35541368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CA9F-05A6-053E-4C6D-AD33C0ECC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4423" y="782193"/>
            <a:ext cx="5247577" cy="994131"/>
          </a:xfrm>
        </p:spPr>
        <p:txBody>
          <a:bodyPr>
            <a:normAutofit/>
          </a:bodyPr>
          <a:lstStyle/>
          <a:p>
            <a:r>
              <a:rPr lang="en-US" sz="3600" dirty="0"/>
              <a:t>3.3 </a:t>
            </a:r>
            <a:r>
              <a:rPr lang="bg-BG" sz="3600" dirty="0"/>
              <a:t>Бизнес логика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F9578E2-6968-3CD8-1D1E-320B678DCE7A}"/>
              </a:ext>
            </a:extLst>
          </p:cNvPr>
          <p:cNvSpPr txBox="1">
            <a:spLocks/>
          </p:cNvSpPr>
          <p:nvPr/>
        </p:nvSpPr>
        <p:spPr>
          <a:xfrm>
            <a:off x="6944423" y="1668018"/>
            <a:ext cx="5247577" cy="9941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000" b="0" kern="1200" spc="-11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bg-BG" sz="2800" dirty="0"/>
              <a:t>Сервизен слой</a:t>
            </a:r>
            <a:r>
              <a:rPr lang="en-US" sz="2800" dirty="0"/>
              <a:t> (Service layer)</a:t>
            </a:r>
            <a:endParaRPr lang="bg-BG" sz="28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CAADA22-10AE-08D1-B136-D6ED6D2761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03" y="431242"/>
            <a:ext cx="6666245" cy="565261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A20F997-51B5-6BD4-FEBC-A7D2B8770AF8}"/>
              </a:ext>
            </a:extLst>
          </p:cNvPr>
          <p:cNvSpPr txBox="1"/>
          <p:nvPr/>
        </p:nvSpPr>
        <p:spPr>
          <a:xfrm>
            <a:off x="924521" y="6226703"/>
            <a:ext cx="51714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Sequence</a:t>
            </a:r>
            <a:r>
              <a:rPr lang="bg-BG" sz="2000" dirty="0"/>
              <a:t> диаграма</a:t>
            </a:r>
            <a:r>
              <a:rPr lang="en-US" sz="2000" dirty="0"/>
              <a:t> </a:t>
            </a:r>
            <a:r>
              <a:rPr lang="bg-BG" sz="2000" dirty="0"/>
              <a:t>за отдаване на книга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C2BA1-F595-555F-C4DB-F48EF05D0364}"/>
              </a:ext>
            </a:extLst>
          </p:cNvPr>
          <p:cNvSpPr txBox="1"/>
          <p:nvPr/>
        </p:nvSpPr>
        <p:spPr>
          <a:xfrm>
            <a:off x="8954104" y="5226429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1608065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FBE11-4CDC-F5C8-8527-8AA97DFB9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575" y="182118"/>
            <a:ext cx="4000500" cy="1352516"/>
          </a:xfrm>
        </p:spPr>
        <p:txBody>
          <a:bodyPr/>
          <a:lstStyle/>
          <a:p>
            <a:r>
              <a:rPr lang="en-US" sz="3200" dirty="0"/>
              <a:t>3.3 </a:t>
            </a:r>
            <a:r>
              <a:rPr lang="bg-BG" sz="3200" dirty="0"/>
              <a:t>Бизнес логика</a:t>
            </a:r>
            <a:endParaRPr lang="bg-B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0A1F2-36F9-4520-166D-4BCA507E192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8374" y="171450"/>
            <a:ext cx="6925002" cy="1352516"/>
          </a:xfrm>
        </p:spPr>
        <p:txBody>
          <a:bodyPr>
            <a:normAutofit/>
          </a:bodyPr>
          <a:lstStyle/>
          <a:p>
            <a:r>
              <a:rPr lang="bg-BG" sz="2800" dirty="0"/>
              <a:t>Сервизен слой</a:t>
            </a:r>
            <a:r>
              <a:rPr lang="en-US" sz="2800" dirty="0"/>
              <a:t> (Service layer)</a:t>
            </a:r>
            <a:endParaRPr lang="bg-BG" sz="2800" dirty="0"/>
          </a:p>
          <a:p>
            <a:endParaRPr lang="bg-BG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6C284C-EC82-206A-3207-7719E21E1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858376"/>
            <a:ext cx="7486824" cy="57233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1781E8-824B-16A5-C223-BF174A094CD2}"/>
              </a:ext>
            </a:extLst>
          </p:cNvPr>
          <p:cNvSpPr txBox="1"/>
          <p:nvPr/>
        </p:nvSpPr>
        <p:spPr>
          <a:xfrm>
            <a:off x="8008424" y="3075057"/>
            <a:ext cx="36429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Sequence</a:t>
            </a:r>
            <a:r>
              <a:rPr lang="bg-BG" sz="2000" dirty="0"/>
              <a:t> диаграма</a:t>
            </a:r>
            <a:r>
              <a:rPr lang="en-US" sz="2000" dirty="0"/>
              <a:t> </a:t>
            </a:r>
            <a:r>
              <a:rPr lang="bg-BG" sz="2000" dirty="0"/>
              <a:t>за връщане на книга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B3F278-F8CD-CD6F-A494-5ECB8CA5123A}"/>
              </a:ext>
            </a:extLst>
          </p:cNvPr>
          <p:cNvSpPr txBox="1"/>
          <p:nvPr/>
        </p:nvSpPr>
        <p:spPr>
          <a:xfrm>
            <a:off x="8954104" y="5226429"/>
            <a:ext cx="306449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bg-BG" dirty="0"/>
              <a:t>Вариант 1: Библиотека</a:t>
            </a:r>
          </a:p>
          <a:p>
            <a:r>
              <a:rPr lang="bg-BG" dirty="0"/>
              <a:t>Изготвили:</a:t>
            </a:r>
          </a:p>
          <a:p>
            <a:r>
              <a:rPr lang="bg-BG" dirty="0"/>
              <a:t>Александър Юриев Станков</a:t>
            </a:r>
          </a:p>
          <a:p>
            <a:r>
              <a:rPr lang="bg-BG" dirty="0"/>
              <a:t>Николай Веселинов Георгиев</a:t>
            </a:r>
          </a:p>
        </p:txBody>
      </p:sp>
    </p:spTree>
    <p:extLst>
      <p:ext uri="{BB962C8B-B14F-4D97-AF65-F5344CB8AC3E}">
        <p14:creationId xmlns:p14="http://schemas.microsoft.com/office/powerpoint/2010/main" val="11756103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B516-8490-AF1F-1D90-1A08F6812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sz="4800" dirty="0"/>
              <a:t>Благодарим за вниманието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653AD-BDF3-27DF-61B8-B7C9D6F1F3A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bg-BG" sz="2000" dirty="0"/>
              <a:t>Тема: Вариант 1: Библиотека</a:t>
            </a:r>
          </a:p>
          <a:p>
            <a:r>
              <a:rPr lang="bg-BG" sz="2000" dirty="0"/>
              <a:t>Дисциплина: Обектно-ориентирано програмиране (2 част)  - проект</a:t>
            </a:r>
          </a:p>
          <a:p>
            <a:r>
              <a:rPr lang="bg-BG" sz="2000" dirty="0"/>
              <a:t>Изготвили:</a:t>
            </a:r>
          </a:p>
          <a:p>
            <a:pPr>
              <a:spcBef>
                <a:spcPts val="400"/>
              </a:spcBef>
            </a:pPr>
            <a:r>
              <a:rPr lang="bg-BG" sz="2000" dirty="0"/>
              <a:t>Александър Юриев Станков – ф.н. 23621614</a:t>
            </a:r>
          </a:p>
          <a:p>
            <a:pPr>
              <a:spcBef>
                <a:spcPts val="400"/>
              </a:spcBef>
            </a:pPr>
            <a:r>
              <a:rPr lang="bg-BG" sz="2000" dirty="0"/>
              <a:t>Николай Веселинов Георгиев– ф.н. 23621689</a:t>
            </a:r>
          </a:p>
          <a:p>
            <a:pPr>
              <a:spcBef>
                <a:spcPts val="400"/>
              </a:spcBef>
            </a:pPr>
            <a:r>
              <a:rPr lang="bg-BG" sz="2000" dirty="0"/>
              <a:t>Специалност: СИТ, Група: 2</a:t>
            </a:r>
          </a:p>
          <a:p>
            <a:pPr>
              <a:spcBef>
                <a:spcPts val="400"/>
              </a:spcBef>
            </a:pPr>
            <a:r>
              <a:rPr lang="bg-BG" sz="2000" dirty="0"/>
              <a:t>Дата на представяне: 02.09.2026 г.</a:t>
            </a:r>
          </a:p>
          <a:p>
            <a:endParaRPr lang="bg-BG" sz="2000" dirty="0"/>
          </a:p>
        </p:txBody>
      </p:sp>
    </p:spTree>
    <p:extLst>
      <p:ext uri="{BB962C8B-B14F-4D97-AF65-F5344CB8AC3E}">
        <p14:creationId xmlns:p14="http://schemas.microsoft.com/office/powerpoint/2010/main" val="2080824097"/>
      </p:ext>
    </p:extLst>
  </p:cSld>
  <p:clrMapOvr>
    <a:masterClrMapping/>
  </p:clrMapOvr>
</p:sld>
</file>

<file path=ppt/theme/theme1.xml><?xml version="1.0" encoding="utf-8"?>
<a:theme xmlns:a="http://schemas.openxmlformats.org/drawingml/2006/main" name="Film Burn">
  <a:themeElements>
    <a:clrScheme name="Custom 2">
      <a:dk1>
        <a:srgbClr val="09090C"/>
      </a:dk1>
      <a:lt1>
        <a:sysClr val="window" lastClr="FFFFFF"/>
      </a:lt1>
      <a:dk2>
        <a:srgbClr val="000000"/>
      </a:dk2>
      <a:lt2>
        <a:srgbClr val="F9EFEC"/>
      </a:lt2>
      <a:accent1>
        <a:srgbClr val="CB49B2"/>
      </a:accent1>
      <a:accent2>
        <a:srgbClr val="7C3191"/>
      </a:accent2>
      <a:accent3>
        <a:srgbClr val="E95D48"/>
      </a:accent3>
      <a:accent4>
        <a:srgbClr val="F08E6B"/>
      </a:accent4>
      <a:accent5>
        <a:srgbClr val="D93752"/>
      </a:accent5>
      <a:accent6>
        <a:srgbClr val="EE7345"/>
      </a:accent6>
      <a:hlink>
        <a:srgbClr val="CB49B2"/>
      </a:hlink>
      <a:folHlink>
        <a:srgbClr val="E95D48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lm burn" id="{4524321E-1019-4E52-AA1C-5D37B75CD749}" vid="{4A46179B-AA1B-40E1-9320-430DA2EBD8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Film Burn</Template>
  <TotalTime>98</TotalTime>
  <Words>815</Words>
  <Application>Microsoft Office PowerPoint</Application>
  <PresentationFormat>Widescreen</PresentationFormat>
  <Paragraphs>158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Neue Haas Grotesk Text Pro</vt:lpstr>
      <vt:lpstr>Film Burn</vt:lpstr>
      <vt:lpstr>Обектно-ориентирано програмиране (2 част) проект</vt:lpstr>
      <vt:lpstr>Съдържание</vt:lpstr>
      <vt:lpstr>1. Задание на проекта</vt:lpstr>
      <vt:lpstr>2. Анализ на проблема</vt:lpstr>
      <vt:lpstr>2. Анализ на проблема</vt:lpstr>
      <vt:lpstr>2.2 Проучване и избор на технологии за реализация на системата </vt:lpstr>
      <vt:lpstr>2.3 Структура на проекта</vt:lpstr>
      <vt:lpstr>2.4 Дефиниция на модулите в системата</vt:lpstr>
      <vt:lpstr>3. Проектиране на системата</vt:lpstr>
      <vt:lpstr>3.1 База от данни</vt:lpstr>
      <vt:lpstr>3.1 База от Данни</vt:lpstr>
      <vt:lpstr>3.2 Графичен потребителски интерфейс (GUI)</vt:lpstr>
      <vt:lpstr>3.3 Бизнес Логика</vt:lpstr>
      <vt:lpstr>3.3 Бизнес логика</vt:lpstr>
      <vt:lpstr>3.3 Бизнес логика</vt:lpstr>
      <vt:lpstr>Благодарим за вниманието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Aleksandar Stankov</dc:creator>
  <cp:lastModifiedBy>Aleksandar Stankov</cp:lastModifiedBy>
  <cp:revision>19</cp:revision>
  <dcterms:created xsi:type="dcterms:W3CDTF">2026-09-01T18:03:30Z</dcterms:created>
  <dcterms:modified xsi:type="dcterms:W3CDTF">2026-09-01T19:42:22Z</dcterms:modified>
</cp:coreProperties>
</file>